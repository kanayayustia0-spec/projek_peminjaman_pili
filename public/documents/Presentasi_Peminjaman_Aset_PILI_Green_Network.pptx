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22860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10312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48BB31"/>
                </a:solidFill>
              </a:defRPr>
            </a:pPr>
            <a:r>
              <a:t>SISTEM INFORMASI PEMINJAMAN ASET (SIP-ASET)</a:t>
            </a:r>
          </a:p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</a:defRPr>
            </a:pPr>
            <a:r>
              <a:t>Digitalisasi Tata Kelola &amp; Sirkulasi Aset Yayasan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Mekanisme Permohonan Staf, Otorisasi Pimpinan, BASTA Digital, &amp; Audit Inventaris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Yayasan PILI Green Network  •  Dokumen Presentasi Resmi Edisi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8BB31"/>
                </a:solidFill>
              </a:defRPr>
            </a:pPr>
            <a:r>
              <a:t>ANALISIS MASALAH &amp; URGENSI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02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9549F"/>
                </a:solidFill>
              </a:defRPr>
            </a:pPr>
            <a:r>
              <a:t>Tantangan Tata Kelola Aset Sebelumnya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Kendala utama pada proses peminjaman sebelum diterapkannya sistem digital terintegrasi.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28416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9549F"/>
                </a:solidFill>
              </a:defRPr>
            </a:pPr>
            <a:r>
              <a:t>01. Pencatatan Konvensional</a:t>
            </a:r>
          </a:p>
          <a:p>
            <a:pPr>
              <a:spcAft>
                <a:spcPts val="1600"/>
              </a:spcAft>
              <a:defRPr sz="1100">
                <a:solidFill>
                  <a:srgbClr val="1E293B"/>
                </a:solidFill>
              </a:defRPr>
            </a:pPr>
            <a:r>
              <a:t>Pengajuan aset melalui chat personal WhatsApp atau nota kertas rawan hilang, tercecer, dan tidak terekam secara terpusat.</a:t>
            </a:r>
          </a:p>
          <a:p>
            <a:pPr>
              <a:defRPr sz="1000" b="1">
                <a:solidFill>
                  <a:srgbClr val="E11D48"/>
                </a:solidFill>
              </a:defRPr>
            </a:pPr>
            <a:r>
              <a:t>Dampak: Kesulitan melacak lokasi dan penanggung jawab fisik barang.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28416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9549F"/>
                </a:solidFill>
              </a:defRPr>
            </a:pPr>
            <a:r>
              <a:t>02. Risiko Sengketa Kondisi</a:t>
            </a:r>
          </a:p>
          <a:p>
            <a:pPr>
              <a:spcAft>
                <a:spcPts val="1600"/>
              </a:spcAft>
              <a:defRPr sz="1100">
                <a:solidFill>
                  <a:srgbClr val="1E293B"/>
                </a:solidFill>
              </a:defRPr>
            </a:pPr>
            <a:r>
              <a:t>Tidak adanya bukti visual saat barang diserahkan dan dikembalikan sering memicu perdebatan saat terjadi kerusakan atau kelengkapan hilang.</a:t>
            </a:r>
          </a:p>
          <a:p>
            <a:pPr>
              <a:defRPr sz="1000" b="1">
                <a:solidFill>
                  <a:srgbClr val="E11D48"/>
                </a:solidFill>
              </a:defRPr>
            </a:pPr>
            <a:r>
              <a:t>Dampak: Beban kerugian aset yayasan tanpa kejelasan akuntabilitas.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328416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10312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9549F"/>
                </a:solidFill>
              </a:defRPr>
            </a:pPr>
            <a:r>
              <a:t>03. Otorisasi Belum Terpisah</a:t>
            </a:r>
          </a:p>
          <a:p>
            <a:pPr>
              <a:spcAft>
                <a:spcPts val="1600"/>
              </a:spcAft>
              <a:defRPr sz="1100">
                <a:solidFill>
                  <a:srgbClr val="1E293B"/>
                </a:solidFill>
              </a:defRPr>
            </a:pPr>
            <a:r>
              <a:t>Ketiadaan batas tegas antara kewenangan pimpinan pemberi izin dengan pengelola logistik pemeriksa fisik di gudang.</a:t>
            </a:r>
          </a:p>
          <a:p>
            <a:pPr>
              <a:defRPr sz="1000" b="1">
                <a:solidFill>
                  <a:srgbClr val="E11D48"/>
                </a:solidFill>
              </a:defRPr>
            </a:pPr>
            <a:r>
              <a:t>Dampak: Birokrasi tumpang tindih dan pengawasan barang lemah.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8BB31"/>
                </a:solidFill>
              </a:defRPr>
            </a:pPr>
            <a:r>
              <a:t>ARSITEKTUR HAK AKSES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03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9549F"/>
                </a:solidFill>
              </a:defRPr>
            </a:pPr>
            <a:r>
              <a:t>Pemisahan 3 Peran Pengguna (Multi-Role)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Menerapkan prinsip Segregation of Duties untuk tata kelola yang profesional dan transparan.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28416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5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19549F"/>
                </a:solidFill>
              </a:defRPr>
            </a:pPr>
            <a:r>
              <a:t>Staf / Peminjam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Katalog aset &amp; ketersediaan stok real-time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Pengajuan peminjaman (multi-item barang)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Tanda tangan BASTA digital di gudang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Wajib foto fisik saat pengembalian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Cetak bukti struk peminjaman resmi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28416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8B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48BB31"/>
                </a:solidFill>
              </a:defRPr>
            </a:pPr>
            <a:r>
              <a:t>Admin Pengelola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Manajemen Register Aset &amp; spesifikasi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Audit berkala melalui Stock Opname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Pemrosesan formulir BASTA serah terima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Pemeriksaan fisik barang pengembalian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Restorasi kuota stok menjadi 'Tersedia'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328416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3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10312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103D77"/>
                </a:solidFill>
              </a:defRPr>
            </a:pPr>
            <a:r>
              <a:t>Admin Persetujuan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Menu khusus Antrean Persetujuan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Review peruntukan &amp; urgensi kegiatan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Keputusan resmi: Setujui / Tolak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Wajib mengisi alasan penolakan tertulis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Hak eksklusif mendaftarkan admin baru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8BB31"/>
                </a:solidFill>
              </a:defRPr>
            </a:pPr>
            <a:r>
              <a:t>STANDAR OPERASIONAL PROSEDUR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04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9549F"/>
                </a:solidFill>
              </a:defRPr>
            </a:pPr>
            <a:r>
              <a:t>Alur Kerja Peminjaman Lengkap (7 Tahapan)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Siklus terstruktur paperless dari pengajuan hingga restorasi stok aset yayasan.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1417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195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1234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9549F"/>
                </a:solidFill>
              </a:defRPr>
            </a:pPr>
            <a:r>
              <a:t>01. Pengajuan</a:t>
            </a:r>
          </a:p>
          <a:p>
            <a:pPr>
              <a:spcAft>
                <a:spcPts val="800"/>
              </a:spcAft>
              <a:defRPr sz="950" b="1">
                <a:solidFill>
                  <a:srgbClr val="48BB31"/>
                </a:solidFill>
              </a:defRPr>
            </a:pPr>
            <a:r>
              <a:t>[Staf]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Pilih barang di katalog, isi form peruntukan &amp; jadwal.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67712" y="2011680"/>
            <a:ext cx="1417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195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59152" y="2194560"/>
            <a:ext cx="1234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9549F"/>
                </a:solidFill>
              </a:defRPr>
            </a:pPr>
            <a:r>
              <a:t>02. Otorisasi</a:t>
            </a:r>
          </a:p>
          <a:p>
            <a:pPr>
              <a:spcAft>
                <a:spcPts val="800"/>
              </a:spcAft>
              <a:defRPr sz="950" b="1">
                <a:solidFill>
                  <a:srgbClr val="48BB31"/>
                </a:solidFill>
              </a:defRPr>
            </a:pPr>
            <a:r>
              <a:t>[Atasan]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Pimpinan meninjau &amp; memberi persetujuan resmi.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03904" y="2011680"/>
            <a:ext cx="1417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195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95344" y="2194560"/>
            <a:ext cx="1234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9549F"/>
                </a:solidFill>
              </a:defRPr>
            </a:pPr>
            <a:r>
              <a:t>03. BASTA</a:t>
            </a:r>
          </a:p>
          <a:p>
            <a:pPr>
              <a:spcAft>
                <a:spcPts val="800"/>
              </a:spcAft>
              <a:defRPr sz="950" b="1">
                <a:solidFill>
                  <a:srgbClr val="48BB31"/>
                </a:solidFill>
              </a:defRPr>
            </a:pPr>
            <a:r>
              <a:t>[Gudang]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Cek fisik, foto awal, &amp; TTD digital bersama.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40096" y="2011680"/>
            <a:ext cx="1417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103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31536" y="2194560"/>
            <a:ext cx="1234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9549F"/>
                </a:solidFill>
              </a:defRPr>
            </a:pPr>
            <a:r>
              <a:t>04. Pemakaian</a:t>
            </a:r>
          </a:p>
          <a:p>
            <a:pPr>
              <a:spcAft>
                <a:spcPts val="800"/>
              </a:spcAft>
              <a:defRPr sz="950" b="1">
                <a:solidFill>
                  <a:srgbClr val="48BB31"/>
                </a:solidFill>
              </a:defRPr>
            </a:pPr>
            <a:r>
              <a:t>[Staf]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Aset digunakan (auto-deteksi Terlambat).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76288" y="2011680"/>
            <a:ext cx="1417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48B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2194560"/>
            <a:ext cx="1234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9549F"/>
                </a:solidFill>
              </a:defRPr>
            </a:pPr>
            <a:r>
              <a:t>05. Kembali</a:t>
            </a:r>
          </a:p>
          <a:p>
            <a:pPr>
              <a:spcAft>
                <a:spcPts val="800"/>
              </a:spcAft>
              <a:defRPr sz="950" b="1">
                <a:solidFill>
                  <a:srgbClr val="48BB31"/>
                </a:solidFill>
              </a:defRPr>
            </a:pPr>
            <a:r>
              <a:t>[Staf]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Staf ajukan kembali + wajib upload foto fisik.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2011680"/>
            <a:ext cx="1417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48B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194560"/>
            <a:ext cx="1234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9549F"/>
                </a:solidFill>
              </a:defRPr>
            </a:pPr>
            <a:r>
              <a:t>06. Verifikasi</a:t>
            </a:r>
          </a:p>
          <a:p>
            <a:pPr>
              <a:spcAft>
                <a:spcPts val="800"/>
              </a:spcAft>
              <a:defRPr sz="950" b="1">
                <a:solidFill>
                  <a:srgbClr val="48BB31"/>
                </a:solidFill>
              </a:defRPr>
            </a:pPr>
            <a:r>
              <a:t>[Gudang]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Pengelola cek fisik vs foto awal BASTA.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48672" y="2011680"/>
            <a:ext cx="1417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48B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40112" y="2194560"/>
            <a:ext cx="1234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9549F"/>
                </a:solidFill>
              </a:defRPr>
            </a:pPr>
            <a:r>
              <a:t>07. Selesai</a:t>
            </a:r>
          </a:p>
          <a:p>
            <a:pPr>
              <a:spcAft>
                <a:spcPts val="800"/>
              </a:spcAft>
              <a:defRPr sz="950" b="1">
                <a:solidFill>
                  <a:srgbClr val="48BB31"/>
                </a:solidFill>
              </a:defRPr>
            </a:pPr>
            <a:r>
              <a:t>[Sistem]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Stok pulih 'Tersedia' &amp; struk siap dicetak.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8BB31"/>
                </a:solidFill>
              </a:defRPr>
            </a:pPr>
            <a:r>
              <a:t>FITUR UNGGULAN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05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9549F"/>
                </a:solidFill>
              </a:defRPr>
            </a:pPr>
            <a:r>
              <a:t>Berita Acara Serah Terima (BASTA) Digital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Validasi serah terima barang di gudang dengan standar pembuktian hukum dan visual.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28416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195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9549F"/>
                </a:solidFill>
              </a:defRPr>
            </a:pPr>
            <a:r>
              <a:t>Checklist Kondisi &amp; Kelengkapan</a:t>
            </a:r>
          </a:p>
          <a:p>
            <a:pPr>
              <a:spcAft>
                <a:spcPts val="1400"/>
              </a:spcAft>
              <a:defRPr sz="1100">
                <a:solidFill>
                  <a:srgbClr val="1E293B"/>
                </a:solidFill>
              </a:defRPr>
            </a:pPr>
            <a:r>
              <a:t>Mencatat detail kondisi fisik barang (Baik / Berfungsi dengan Catatan) dan memeriksa kelengkapan tas, charger, kabel data, serta baterai cadangan.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28416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195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1031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9549F"/>
                </a:solidFill>
              </a:defRPr>
            </a:pPr>
            <a:r>
              <a:t>Lampiran Foto Kondisi Awal</a:t>
            </a:r>
          </a:p>
          <a:p>
            <a:pPr>
              <a:spcAft>
                <a:spcPts val="1400"/>
              </a:spcAft>
              <a:defRPr sz="1100">
                <a:solidFill>
                  <a:srgbClr val="1E293B"/>
                </a:solidFill>
              </a:defRPr>
            </a:pPr>
            <a:r>
              <a:t>Pengelola mengambil dan mengunggah foto fisik barang saat diserahkan sebagai patokan resmi kondisi aset sebelum dibawa ke lapangan.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328416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195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2103120"/>
            <a:ext cx="2871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9549F"/>
                </a:solidFill>
              </a:defRPr>
            </a:pPr>
            <a:r>
              <a:t>Tanda Tangan Digital Dua Arah</a:t>
            </a:r>
          </a:p>
          <a:p>
            <a:pPr>
              <a:spcAft>
                <a:spcPts val="1400"/>
              </a:spcAft>
              <a:defRPr sz="1100">
                <a:solidFill>
                  <a:srgbClr val="1E293B"/>
                </a:solidFill>
              </a:defRPr>
            </a:pPr>
            <a:r>
              <a:t>Admin Pengelola dan Staf membubuhkan tanda tangan digital langsung di layar sentuh/mouse, sah tersimpan di database sistem.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8BB31"/>
                </a:solidFill>
              </a:defRPr>
            </a:pPr>
            <a:r>
              <a:t>FITUR UNGGULAN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06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9549F"/>
                </a:solidFill>
              </a:defRPr>
            </a:pPr>
            <a:r>
              <a:t>Modul Audit Fisik Gudang (Stock Opname)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Mencocokkan stok catatan sistem vs fisik riil di rak gudang secara berkala.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9549F"/>
                </a:solidFill>
              </a:defRPr>
            </a:pPr>
            <a:r>
              <a:t>Fitur Pencatatan Audit Gudang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✓ Pencatatan tanggal audit, lokasi gudang, &amp; tim pemeriksa.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✓ Perhitungan detail 4 kuota: Terdaftar (Sistem), Fisik Baik, Fisik Rusak, dan Hilang.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✓ Kolom catatan rekomendasi perbaikan dan tindak lanjut pengadaan.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120640" cy="39319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48B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48BB31"/>
                </a:solidFill>
              </a:defRPr>
            </a:pPr>
            <a:r>
              <a:t>Modal 'Lihat Rincian' Interaktif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★ Menampilkan rincian audit per aset dengan nama &amp; kode inventaris.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★ Indikator status otomatis: Badge hijau 'Sesuai' atau badge merah 'Ada Selisih'.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★ Tombol cetak langsung dokumen audit untuk arsip LPJ yayasan.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8BB31"/>
                </a:solidFill>
              </a:defRPr>
            </a:pPr>
            <a:r>
              <a:t>PROGRES &amp; PENYEMPURNAAN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07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9549F"/>
                </a:solidFill>
              </a:defRPr>
            </a:pPr>
            <a:r>
              <a:t>Poin Revisi Terbaru yang Telah Diselesaikan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Penyempurnaan tampilan, fungsionalitas, keamanan role, dan resolusi error.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48BB31"/>
                </a:solidFill>
              </a:defRPr>
            </a:pPr>
            <a:r>
              <a:t>✓ Pembaruan Logo Resmi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Menggantikan logo badge 'P' dengan logo resmi PILI Green Network di seluruh navbar, struk, login, &amp; nota transaksi.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1206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6596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48BB31"/>
                </a:solidFill>
              </a:defRPr>
            </a:pPr>
            <a:r>
              <a:t>✓ Pemisahan Antrean Bersih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Menghapus menu antrean persetujuan dari Admin Pengelola sehingga hak otorisasi eksklusif di Admin Persetujuan.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40"/>
            <a:ext cx="51206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290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48BB31"/>
                </a:solidFill>
              </a:defRPr>
            </a:pPr>
            <a:r>
              <a:t>✓ Akurasi Tab 'Ditolak'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Sinkronisasi query badge filter Ditolak sehingga permohonan yang ditolak terhitung tepat dan dapat dilihat alasannya.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291840"/>
            <a:ext cx="51206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4290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48BB31"/>
                </a:solidFill>
              </a:defRPr>
            </a:pPr>
            <a:r>
              <a:t>✓ Interaktivitas Stock Opname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Tombol 'Lihat Rincian' kini menampilkan modal rincian tiap aset, ringkasan fisik, dan fungsi cetak laporan.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54880"/>
            <a:ext cx="51206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89204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48BB31"/>
                </a:solidFill>
              </a:defRPr>
            </a:pPr>
            <a:r>
              <a:t>✓ Redesain Halaman Login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Card modern Plus Jakarta Sans, tombol biru netral, pemilihan akun Staf/Admin, dan toggle intip password.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754880"/>
            <a:ext cx="51206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89204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48BB31"/>
                </a:solidFill>
              </a:defRPr>
            </a:pPr>
            <a:r>
              <a:t>✓ Buku Panduan Word Resmi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Pembuatan dokumen panduan resmi (.doc) yang dapat diunduh langsung dari web untuk Staf dan Admin.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48BB31"/>
                </a:solidFill>
              </a:defRPr>
            </a:pPr>
            <a:r>
              <a:t>KESIMPULAN &amp; DAMPAK NYATA</a:t>
            </a:r>
          </a:p>
          <a:p>
            <a:pPr>
              <a:spcAft>
                <a:spcPts val="2000"/>
              </a:spcAft>
              <a:defRPr sz="3000" b="1">
                <a:solidFill>
                  <a:srgbClr val="FFFFFF"/>
                </a:solidFill>
              </a:defRPr>
            </a:pPr>
            <a:r>
              <a:t>Transformasi Pengelolaan Aset yang Akuntabel &amp; Aman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★ 100% Paperless &amp; Bukti Digital: Peminjaman, BASTA, dan pengembalian terekam lengkap dengan foto fisik dan tanda tangan digital.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★ Nol Sengketa Kondisi: Dokumentasi sebelum dan sesudah peminjaman melindungi hak peminjam dan aset yayasan.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★ Audit Cepat &amp; Siap Ekspor: Data Stock Opname dan rekap peminjaman dapat diekspor ke Excel dalam satu kali klik.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8BB31"/>
                </a:solidFill>
              </a:defRPr>
            </a:pPr>
            <a:r>
              <a:t>Terima Kasih  •  Yayasan PILI Green Network  •  Sesi Tanya Jawab (Q&amp;A)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